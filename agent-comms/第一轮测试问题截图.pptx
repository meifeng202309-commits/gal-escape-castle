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69" r:id="rId3"/>
    <p:sldId id="278" r:id="rId4"/>
    <p:sldId id="270" r:id="rId5"/>
    <p:sldId id="271" r:id="rId6"/>
    <p:sldId id="272" r:id="rId7"/>
    <p:sldId id="279" r:id="rId8"/>
    <p:sldId id="273" r:id="rId9"/>
    <p:sldId id="276" r:id="rId10"/>
    <p:sldId id="274" r:id="rId11"/>
    <p:sldId id="275" r:id="rId12"/>
    <p:sldId id="277" r:id="rId13"/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80" d="100"/>
          <a:sy n="80" d="100"/>
        </p:scale>
        <p:origin x="78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E4615B-BF8D-3557-FDEF-8D8EC5B1DB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431CA45-7F93-5075-C3B1-B506328A62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LID4096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98B4D4-1F1B-4143-C5CF-CCAB88BC6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03090-656D-4522-803B-7EE7E5E87EAD}" type="datetimeFigureOut">
              <a:rPr lang="LID4096" smtClean="0"/>
              <a:t>10/04/2026</a:t>
            </a:fld>
            <a:endParaRPr lang="LID4096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E32670-7AEC-F382-749E-F98E449E4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7C8D1F-5BEE-B1EE-4AB2-0AF6B0AF8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75F50-00AB-4652-9C4D-FE7D76AFA9A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64935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094EC5-3A48-928B-41AD-84B6B0642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5F7BBA-9117-0052-6E83-A5675B0108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7F2873-5A54-AE5F-8F9E-E5F5A7868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03090-656D-4522-803B-7EE7E5E87EAD}" type="datetimeFigureOut">
              <a:rPr lang="LID4096" smtClean="0"/>
              <a:t>10/04/2026</a:t>
            </a:fld>
            <a:endParaRPr lang="LID4096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2A3273-74CA-F227-FB83-39EB7EA0D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BB2FED-9BFA-8DAD-FE93-64423A210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75F50-00AB-4652-9C4D-FE7D76AFA9A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8699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0E02E6-5CF5-FCC2-D574-DDB6A4E50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E2DC13-6ABD-034B-9D89-E7DEF54E8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05545A-27CE-E2EA-3D65-F0B38EA89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03090-656D-4522-803B-7EE7E5E87EAD}" type="datetimeFigureOut">
              <a:rPr lang="LID4096" smtClean="0"/>
              <a:t>10/04/2026</a:t>
            </a:fld>
            <a:endParaRPr lang="LID4096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CB17AD-0971-14F4-444B-9F778947B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186558-79E1-6D73-AE5B-2B423AA2A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75F50-00AB-4652-9C4D-FE7D76AFA9A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42486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723613-8D0E-DEB3-654F-C779C9737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593E79-189F-3F74-ADDE-EE6102155D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96338FD-0784-E09E-671C-91878F7D45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9DAA583-84F0-0B29-6B0C-FC0F72B8B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03090-656D-4522-803B-7EE7E5E87EAD}" type="datetimeFigureOut">
              <a:rPr lang="LID4096" smtClean="0"/>
              <a:t>10/04/2026</a:t>
            </a:fld>
            <a:endParaRPr lang="LID4096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A34E2CD-1365-23A0-342C-988FB0F76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34C04E5-81C0-51F2-967F-5748D022D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75F50-00AB-4652-9C4D-FE7D76AFA9A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97820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632EE1-533C-A6F2-A7FF-AF13DBCFF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C325536-C5E5-DBEE-1491-6CF924E1A9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1CFA8F6-3B98-63F5-8602-298E5A5AA8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9A90337-30FD-BB1B-6C8A-3FA61FFC10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569ADAC-2D9C-0DB1-3429-02BD06A78D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8F6A563-DD4B-9673-1460-F1C747D26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03090-656D-4522-803B-7EE7E5E87EAD}" type="datetimeFigureOut">
              <a:rPr lang="LID4096" smtClean="0"/>
              <a:t>10/04/2026</a:t>
            </a:fld>
            <a:endParaRPr lang="LID4096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1EA9937-B232-ACF3-7D4D-A6D39C497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ABA8A0E-46A9-7B67-10C5-0D91C6C6E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75F50-00AB-4652-9C4D-FE7D76AFA9A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92784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0850E6-AC3B-5295-D6CE-83B5B2F37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C9A026B-8554-8CCC-7134-0D32082C7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03090-656D-4522-803B-7EE7E5E87EAD}" type="datetimeFigureOut">
              <a:rPr lang="LID4096" smtClean="0"/>
              <a:t>10/04/2026</a:t>
            </a:fld>
            <a:endParaRPr lang="LID4096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B9EDB86-424B-1B2E-C614-2B8494D30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7B66AAB-0F23-485F-10EE-2DBCF4F18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75F50-00AB-4652-9C4D-FE7D76AFA9A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98069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64B5DA6-DF15-903C-75FF-D8D92EDF9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03090-656D-4522-803B-7EE7E5E87EAD}" type="datetimeFigureOut">
              <a:rPr lang="LID4096" smtClean="0"/>
              <a:t>10/04/2026</a:t>
            </a:fld>
            <a:endParaRPr lang="LID4096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CF705E6-3A12-8B9A-A360-08D00310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DBFE27-D024-B31D-082A-633FA3CFD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75F50-00AB-4652-9C4D-FE7D76AFA9A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98697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9CF234-BAB3-6E29-FC23-0988FA04C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58F860-107B-0417-8335-FD8E89137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B1AB959-DCA1-C32A-FB3A-754904B65E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B476FA-EAD5-F0ED-0709-0F0E5EF78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03090-656D-4522-803B-7EE7E5E87EAD}" type="datetimeFigureOut">
              <a:rPr lang="LID4096" smtClean="0"/>
              <a:t>10/04/2026</a:t>
            </a:fld>
            <a:endParaRPr lang="LID4096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6B18871-2E80-DA10-47E4-E99F77447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534E71F-FEC6-12C1-1853-6A40EDB65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75F50-00AB-4652-9C4D-FE7D76AFA9A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25313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D2857E-1601-DA15-8764-FF622F6EF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CE6C5DB-D778-9082-5A80-3840B54C2D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C237049-6666-B0D7-F42E-FD834AD5BD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704BDB-C2F7-269F-D714-DDB1C7366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03090-656D-4522-803B-7EE7E5E87EAD}" type="datetimeFigureOut">
              <a:rPr lang="LID4096" smtClean="0"/>
              <a:t>10/04/2026</a:t>
            </a:fld>
            <a:endParaRPr lang="LID4096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C43678-EB1C-2F31-681D-018671D27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512BA1-FA34-577F-CE1E-38C61D381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75F50-00AB-4652-9C4D-FE7D76AFA9A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33222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F5A55A-008E-3341-3A96-C1A958C2C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13339F4-5317-9B0D-3531-C6B3EA157E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00F10F-CDF9-5097-900B-2A5B27D50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03090-656D-4522-803B-7EE7E5E87EAD}" type="datetimeFigureOut">
              <a:rPr lang="LID4096" smtClean="0"/>
              <a:t>10/04/2026</a:t>
            </a:fld>
            <a:endParaRPr lang="LID4096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BAA966-2998-CF6C-3B8D-160B4A0BE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5CE05D-21E8-B692-C6DE-E0912636E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75F50-00AB-4652-9C4D-FE7D76AFA9A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10191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D74AB69-FBA1-276D-CF9D-92D067049C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7A9B790-1D0D-1CAD-B608-3340054A62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142971-65C1-D111-814A-1B0ED6407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03090-656D-4522-803B-7EE7E5E87EAD}" type="datetimeFigureOut">
              <a:rPr lang="LID4096" smtClean="0"/>
              <a:t>10/04/2026</a:t>
            </a:fld>
            <a:endParaRPr lang="LID4096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F63AFF-946C-ADCE-709B-9EAEA1D49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4CE84C-78AF-D9CE-A12E-FC0CF503A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75F50-00AB-4652-9C4D-FE7D76AFA9A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08666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F88691E-858E-808D-E41F-2FE8EFBC0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BDC1525-C2B4-AC8B-E6DE-B4792F841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DDAEF9-B3D1-C216-D92B-4CB5ADB2D4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003090-656D-4522-803B-7EE7E5E87EAD}" type="datetimeFigureOut">
              <a:rPr lang="LID4096" smtClean="0"/>
              <a:t>10/04/2026</a:t>
            </a:fld>
            <a:endParaRPr lang="LID4096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8ACC50-4994-5917-D827-70F492248A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CA68F4-7EB5-9136-8962-13812CB1A5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E75F50-00AB-4652-9C4D-FE7D76AFA9A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23128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AE2ED603-4C16-7FB9-6AA8-89E96DBBF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First Round Review </a:t>
            </a:r>
            <a:r>
              <a:rPr lang="en-US" altLang="zh-CN" dirty="0"/>
              <a:t>–</a:t>
            </a:r>
            <a:br>
              <a:rPr lang="en-US" altLang="zh-CN" dirty="0"/>
            </a:br>
            <a:r>
              <a:rPr lang="en-US" altLang="zh-CN" dirty="0"/>
              <a:t>Snapshot of pages with problem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912425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80F8980E-B5AD-616F-F785-B0C463837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Part I </a:t>
            </a:r>
            <a:r>
              <a:rPr lang="en-US" dirty="0"/>
              <a:t>Major problems above all the others</a:t>
            </a:r>
            <a:endParaRPr lang="LID4096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22DEEA12-192C-F5B8-5A6F-5FAE8E75A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/>
          <a:lstStyle/>
          <a:p>
            <a:r>
              <a:rPr lang="en-US" dirty="0"/>
              <a:t>The layout of the pages is very user unfriendly. </a:t>
            </a:r>
          </a:p>
          <a:p>
            <a:r>
              <a:rPr lang="en-US" dirty="0"/>
              <a:t>All pictures, but the library, fail to be properly shown.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591125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28DD641-10DF-2DB8-4DF1-9AD6F6CED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3475" y="2470150"/>
            <a:ext cx="10515600" cy="1325563"/>
          </a:xfrm>
        </p:spPr>
        <p:txBody>
          <a:bodyPr/>
          <a:lstStyle/>
          <a:p>
            <a:r>
              <a:rPr lang="en-US" altLang="zh-CN" dirty="0"/>
              <a:t>Part II About layout-GAL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4185139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>
            <a:extLst>
              <a:ext uri="{FF2B5EF4-FFF2-40B4-BE49-F238E27FC236}">
                <a16:creationId xmlns:a16="http://schemas.microsoft.com/office/drawing/2014/main" id="{0140CE6E-5C02-89DE-1908-DD0B5B50C536}"/>
              </a:ext>
            </a:extLst>
          </p:cNvPr>
          <p:cNvGrpSpPr/>
          <p:nvPr/>
        </p:nvGrpSpPr>
        <p:grpSpPr>
          <a:xfrm>
            <a:off x="1429407" y="1074682"/>
            <a:ext cx="8203324" cy="5528441"/>
            <a:chOff x="1587062" y="664779"/>
            <a:chExt cx="8203324" cy="5528441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9C7A05BB-90AA-883E-1114-2B24B75CC370}"/>
                </a:ext>
              </a:extLst>
            </p:cNvPr>
            <p:cNvSpPr/>
            <p:nvPr/>
          </p:nvSpPr>
          <p:spPr>
            <a:xfrm>
              <a:off x="1587062" y="664779"/>
              <a:ext cx="3930869" cy="552844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6B9D7771-0792-3618-EAA5-950D4EE3A7F0}"/>
                </a:ext>
              </a:extLst>
            </p:cNvPr>
            <p:cNvSpPr/>
            <p:nvPr/>
          </p:nvSpPr>
          <p:spPr>
            <a:xfrm>
              <a:off x="5859517" y="664779"/>
              <a:ext cx="3930869" cy="552844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63765C89-E3B5-3B5A-AA50-B6476F345907}"/>
                </a:ext>
              </a:extLst>
            </p:cNvPr>
            <p:cNvSpPr txBox="1"/>
            <p:nvPr/>
          </p:nvSpPr>
          <p:spPr>
            <a:xfrm>
              <a:off x="1702676" y="763562"/>
              <a:ext cx="3725917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Identity box:</a:t>
              </a:r>
            </a:p>
            <a:p>
              <a:r>
                <a:rPr lang="en-US" sz="1400" b="1" dirty="0"/>
                <a:t>Name of the player (bold and middle sized font)</a:t>
              </a:r>
            </a:p>
            <a:p>
              <a:endParaRPr lang="LID4096" sz="1400" b="1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DB9E26F6-25B9-9A48-6E39-F3FCA96AF42C}"/>
                </a:ext>
              </a:extLst>
            </p:cNvPr>
            <p:cNvSpPr txBox="1"/>
            <p:nvPr/>
          </p:nvSpPr>
          <p:spPr>
            <a:xfrm>
              <a:off x="2165130" y="1671219"/>
              <a:ext cx="2774731" cy="175432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dirty="0"/>
            </a:p>
            <a:p>
              <a:r>
                <a:rPr lang="en-US" dirty="0"/>
                <a:t>Action box (to choose/vote/chat)</a:t>
              </a:r>
            </a:p>
            <a:p>
              <a:endParaRPr lang="en-US" dirty="0"/>
            </a:p>
            <a:p>
              <a:r>
                <a:rPr lang="en-US" dirty="0"/>
                <a:t>Large sized font</a:t>
              </a:r>
            </a:p>
            <a:p>
              <a:endParaRPr lang="LID4096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BE4A6267-409C-C3D2-64AC-98A70799856C}"/>
                </a:ext>
              </a:extLst>
            </p:cNvPr>
            <p:cNvSpPr txBox="1"/>
            <p:nvPr/>
          </p:nvSpPr>
          <p:spPr>
            <a:xfrm>
              <a:off x="2165129" y="3831094"/>
              <a:ext cx="3111064" cy="203132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dirty="0"/>
            </a:p>
            <a:p>
              <a:r>
                <a:rPr lang="en-US" dirty="0"/>
                <a:t>Photo box</a:t>
              </a:r>
            </a:p>
            <a:p>
              <a:endParaRPr lang="en-US" dirty="0"/>
            </a:p>
            <a:p>
              <a:r>
                <a:rPr lang="en-US" dirty="0"/>
                <a:t>The photo should be “ just big enough to fill the width of the screen frame”</a:t>
              </a:r>
            </a:p>
            <a:p>
              <a:endParaRPr lang="LID4096" dirty="0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5895C45-2B7A-3326-EB4B-5B79C6B49B23}"/>
                </a:ext>
              </a:extLst>
            </p:cNvPr>
            <p:cNvSpPr txBox="1"/>
            <p:nvPr/>
          </p:nvSpPr>
          <p:spPr>
            <a:xfrm>
              <a:off x="6174826" y="877688"/>
              <a:ext cx="3421119" cy="147732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dirty="0"/>
            </a:p>
            <a:p>
              <a:r>
                <a:rPr lang="en-US" dirty="0"/>
                <a:t>My pocket box (message)</a:t>
              </a:r>
            </a:p>
            <a:p>
              <a:endParaRPr lang="en-US" dirty="0"/>
            </a:p>
            <a:p>
              <a:r>
                <a:rPr lang="en-US" dirty="0"/>
                <a:t>Listed as bulleting points. </a:t>
              </a:r>
            </a:p>
            <a:p>
              <a:endParaRPr lang="LID4096" dirty="0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488B5AD7-1521-B75F-F102-31978D1A8F4B}"/>
                </a:ext>
              </a:extLst>
            </p:cNvPr>
            <p:cNvSpPr txBox="1"/>
            <p:nvPr/>
          </p:nvSpPr>
          <p:spPr>
            <a:xfrm>
              <a:off x="6114391" y="3398921"/>
              <a:ext cx="3421119" cy="203132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dirty="0"/>
            </a:p>
            <a:p>
              <a:r>
                <a:rPr lang="en-US" dirty="0"/>
                <a:t>My pocket box (photo/detail of texts)</a:t>
              </a:r>
            </a:p>
            <a:p>
              <a:endParaRPr lang="en-US" dirty="0"/>
            </a:p>
            <a:p>
              <a:r>
                <a:rPr lang="en-US" dirty="0"/>
                <a:t>Present when the item in the message box is clicked,</a:t>
              </a:r>
            </a:p>
            <a:p>
              <a:r>
                <a:rPr lang="en-US" dirty="0"/>
                <a:t>and close when the it clicked again </a:t>
              </a:r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1332BE09-81FC-895F-4161-C5EDA7C3EE43}"/>
              </a:ext>
            </a:extLst>
          </p:cNvPr>
          <p:cNvSpPr txBox="1"/>
          <p:nvPr/>
        </p:nvSpPr>
        <p:spPr>
          <a:xfrm>
            <a:off x="400050" y="299801"/>
            <a:ext cx="11372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Proposal of Layout-</a:t>
            </a:r>
            <a:r>
              <a:rPr lang="en-US" altLang="zh-CN" sz="2800" b="1" dirty="0"/>
              <a:t>GAL</a:t>
            </a:r>
            <a:r>
              <a:rPr lang="en-US" sz="2800" b="1" dirty="0"/>
              <a:t> </a:t>
            </a:r>
            <a:r>
              <a:rPr lang="en-US" dirty="0"/>
              <a:t>– please critically feedback for minimizing the change of program architecture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793290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00C7E48-1DE8-402C-4D5B-F59DB5C2A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0" y="1400175"/>
            <a:ext cx="9715500" cy="4057650"/>
          </a:xfrm>
          <a:prstGeom prst="rect">
            <a:avLst/>
          </a:prstGeom>
        </p:spPr>
      </p:pic>
      <p:sp>
        <p:nvSpPr>
          <p:cNvPr id="4" name="对话气泡: 矩形 3">
            <a:extLst>
              <a:ext uri="{FF2B5EF4-FFF2-40B4-BE49-F238E27FC236}">
                <a16:creationId xmlns:a16="http://schemas.microsoft.com/office/drawing/2014/main" id="{6553FB44-0FCE-45A9-726D-01AA4F2C750D}"/>
              </a:ext>
            </a:extLst>
          </p:cNvPr>
          <p:cNvSpPr/>
          <p:nvPr/>
        </p:nvSpPr>
        <p:spPr>
          <a:xfrm>
            <a:off x="6442841" y="283779"/>
            <a:ext cx="3899338" cy="914400"/>
          </a:xfrm>
          <a:prstGeom prst="wedgeRectCallout">
            <a:avLst>
              <a:gd name="adj1" fmla="val -70053"/>
              <a:gd name="adj2" fmla="val 16705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texts that I </a:t>
            </a:r>
            <a:r>
              <a:rPr lang="en-US" dirty="0" err="1"/>
              <a:t>strik</a:t>
            </a:r>
            <a:r>
              <a:rPr lang="en-US" dirty="0"/>
              <a:t> </a:t>
            </a:r>
            <a:r>
              <a:rPr lang="en-US" dirty="0" err="1"/>
              <a:t>eout</a:t>
            </a:r>
            <a:r>
              <a:rPr lang="en-US" dirty="0"/>
              <a:t> should disappear from the game enters into the second page</a:t>
            </a:r>
            <a:endParaRPr lang="LID4096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FE2236F4-F86E-E5F5-F400-64EFD1D17077}"/>
              </a:ext>
            </a:extLst>
          </p:cNvPr>
          <p:cNvCxnSpPr/>
          <p:nvPr/>
        </p:nvCxnSpPr>
        <p:spPr>
          <a:xfrm>
            <a:off x="1692166" y="2333296"/>
            <a:ext cx="4540469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CA22C7BE-74B9-E177-4E0B-BD20FAAD6386}"/>
              </a:ext>
            </a:extLst>
          </p:cNvPr>
          <p:cNvCxnSpPr>
            <a:cxnSpLocks/>
          </p:cNvCxnSpPr>
          <p:nvPr/>
        </p:nvCxnSpPr>
        <p:spPr>
          <a:xfrm>
            <a:off x="1802524" y="2811517"/>
            <a:ext cx="5701862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86E139FE-7B46-8F96-5899-83D794B46DCB}"/>
              </a:ext>
            </a:extLst>
          </p:cNvPr>
          <p:cNvCxnSpPr/>
          <p:nvPr/>
        </p:nvCxnSpPr>
        <p:spPr>
          <a:xfrm>
            <a:off x="1361090" y="4314496"/>
            <a:ext cx="4540469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对话气泡: 矩形 10">
            <a:extLst>
              <a:ext uri="{FF2B5EF4-FFF2-40B4-BE49-F238E27FC236}">
                <a16:creationId xmlns:a16="http://schemas.microsoft.com/office/drawing/2014/main" id="{2C90FC26-B9BD-D8B9-B74E-781C20CD9C81}"/>
              </a:ext>
            </a:extLst>
          </p:cNvPr>
          <p:cNvSpPr/>
          <p:nvPr/>
        </p:nvSpPr>
        <p:spPr>
          <a:xfrm>
            <a:off x="1844565" y="165210"/>
            <a:ext cx="3899338" cy="914400"/>
          </a:xfrm>
          <a:prstGeom prst="wedgeRectCallout">
            <a:avLst>
              <a:gd name="adj1" fmla="val -14258"/>
              <a:gd name="adj2" fmla="val 12452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Enlarge as the size of title</a:t>
            </a:r>
            <a:endParaRPr lang="LID4096" dirty="0"/>
          </a:p>
        </p:txBody>
      </p:sp>
      <p:sp>
        <p:nvSpPr>
          <p:cNvPr id="13" name="对话气泡: 矩形 12">
            <a:extLst>
              <a:ext uri="{FF2B5EF4-FFF2-40B4-BE49-F238E27FC236}">
                <a16:creationId xmlns:a16="http://schemas.microsoft.com/office/drawing/2014/main" id="{9A97D610-2F50-3040-DA8E-E29FC3D7D202}"/>
              </a:ext>
            </a:extLst>
          </p:cNvPr>
          <p:cNvSpPr/>
          <p:nvPr/>
        </p:nvSpPr>
        <p:spPr>
          <a:xfrm>
            <a:off x="3053255" y="4837714"/>
            <a:ext cx="3899338" cy="914400"/>
          </a:xfrm>
          <a:prstGeom prst="wedgeRectCallout">
            <a:avLst>
              <a:gd name="adj1" fmla="val -72210"/>
              <a:gd name="adj2" fmla="val -1329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Enlarge as the size of title</a:t>
            </a:r>
          </a:p>
          <a:p>
            <a:pPr algn="ctr"/>
            <a:r>
              <a:rPr lang="en-US" dirty="0"/>
              <a:t>Show in this way: </a:t>
            </a:r>
            <a:r>
              <a:rPr lang="en-US" b="1" dirty="0"/>
              <a:t>I am ANNA</a:t>
            </a:r>
            <a:r>
              <a:rPr lang="en-US" dirty="0"/>
              <a:t> </a:t>
            </a:r>
            <a:endParaRPr lang="LID4096" dirty="0"/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A7BF32F6-E04E-BA59-CC92-DC1FEF5A026B}"/>
              </a:ext>
            </a:extLst>
          </p:cNvPr>
          <p:cNvCxnSpPr>
            <a:cxnSpLocks/>
          </p:cNvCxnSpPr>
          <p:nvPr/>
        </p:nvCxnSpPr>
        <p:spPr>
          <a:xfrm>
            <a:off x="2383220" y="3946634"/>
            <a:ext cx="874987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375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031E562-5F28-0847-571A-E54C88942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879" y="0"/>
            <a:ext cx="5269746" cy="68580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7457DC9A-A59F-FD57-768E-436D3E7CAB53}"/>
              </a:ext>
            </a:extLst>
          </p:cNvPr>
          <p:cNvSpPr txBox="1"/>
          <p:nvPr/>
        </p:nvSpPr>
        <p:spPr>
          <a:xfrm>
            <a:off x="6096000" y="525517"/>
            <a:ext cx="50764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Teacher console layout </a:t>
            </a:r>
            <a:r>
              <a:rPr lang="zh-CN" altLang="en-US" dirty="0"/>
              <a:t>不合理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主次不分，</a:t>
            </a:r>
            <a:r>
              <a:rPr lang="en-US" altLang="zh-CN" dirty="0"/>
              <a:t>teacher</a:t>
            </a:r>
            <a:r>
              <a:rPr lang="zh-CN" altLang="en-US" dirty="0"/>
              <a:t>很难知道在游戏过程中应该看哪里 </a:t>
            </a:r>
            <a:r>
              <a:rPr lang="en-US" altLang="zh-CN" dirty="0"/>
              <a:t>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038480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7D0C559-FBE5-648F-6E6C-0933E5823684}"/>
              </a:ext>
            </a:extLst>
          </p:cNvPr>
          <p:cNvSpPr txBox="1">
            <a:spLocks/>
          </p:cNvSpPr>
          <p:nvPr/>
        </p:nvSpPr>
        <p:spPr>
          <a:xfrm>
            <a:off x="1133475" y="2470150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/>
              <a:t>Part III About layout Teacher Console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738194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7975A7B-244C-0937-93AF-344D0378A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5864772" cy="354589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6183565A-1F82-C7C7-80A2-CC3FEEE0030B}"/>
              </a:ext>
            </a:extLst>
          </p:cNvPr>
          <p:cNvSpPr txBox="1"/>
          <p:nvPr/>
        </p:nvSpPr>
        <p:spPr>
          <a:xfrm>
            <a:off x="4193628" y="177941"/>
            <a:ext cx="1671145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留下</a:t>
            </a:r>
            <a:endParaRPr lang="LID4096" dirty="0">
              <a:solidFill>
                <a:schemeClr val="bg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D79E50A-13E2-18F6-41D5-C4D3648E1F1A}"/>
              </a:ext>
            </a:extLst>
          </p:cNvPr>
          <p:cNvSpPr txBox="1"/>
          <p:nvPr/>
        </p:nvSpPr>
        <p:spPr>
          <a:xfrm>
            <a:off x="3421117" y="1311280"/>
            <a:ext cx="2107325" cy="8309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没必要放在这么重要的地方，完成功能和可以消失</a:t>
            </a:r>
            <a:endParaRPr lang="LID4096" sz="1600" dirty="0">
              <a:solidFill>
                <a:schemeClr val="bg1"/>
              </a:solidFill>
            </a:endParaRPr>
          </a:p>
        </p:txBody>
      </p:sp>
      <p:sp>
        <p:nvSpPr>
          <p:cNvPr id="7" name="对话气泡: 矩形 6">
            <a:extLst>
              <a:ext uri="{FF2B5EF4-FFF2-40B4-BE49-F238E27FC236}">
                <a16:creationId xmlns:a16="http://schemas.microsoft.com/office/drawing/2014/main" id="{5C1FC68A-4C1C-8C00-59DF-5B5830A089CE}"/>
              </a:ext>
            </a:extLst>
          </p:cNvPr>
          <p:cNvSpPr/>
          <p:nvPr/>
        </p:nvSpPr>
        <p:spPr>
          <a:xfrm>
            <a:off x="3720663" y="2534268"/>
            <a:ext cx="2333296" cy="874986"/>
          </a:xfrm>
          <a:prstGeom prst="wedgeRectCallout">
            <a:avLst>
              <a:gd name="adj1" fmla="val -116747"/>
              <a:gd name="adj2" fmla="val 3671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这一行是老版本的功能？如果没用了就去掉</a:t>
            </a:r>
            <a:endParaRPr lang="LID4096" sz="16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E7C36A7-37C0-5A2D-642D-D88449ED5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17" y="3727878"/>
            <a:ext cx="6243145" cy="2024804"/>
          </a:xfrm>
          <a:prstGeom prst="rect">
            <a:avLst/>
          </a:prstGeom>
        </p:spPr>
      </p:pic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32769797-73B6-DE72-854C-AC0753C0CBB5}"/>
              </a:ext>
            </a:extLst>
          </p:cNvPr>
          <p:cNvSpPr/>
          <p:nvPr/>
        </p:nvSpPr>
        <p:spPr>
          <a:xfrm>
            <a:off x="114300" y="4579620"/>
            <a:ext cx="2453640" cy="1028700"/>
          </a:xfrm>
          <a:custGeom>
            <a:avLst/>
            <a:gdLst>
              <a:gd name="csX0" fmla="*/ 160020 w 2453640"/>
              <a:gd name="csY0" fmla="*/ 0 h 1028700"/>
              <a:gd name="csX1" fmla="*/ 160020 w 2453640"/>
              <a:gd name="csY1" fmla="*/ 0 h 1028700"/>
              <a:gd name="csX2" fmla="*/ 68580 w 2453640"/>
              <a:gd name="csY2" fmla="*/ 38100 h 1028700"/>
              <a:gd name="csX3" fmla="*/ 38100 w 2453640"/>
              <a:gd name="csY3" fmla="*/ 60960 h 1028700"/>
              <a:gd name="csX4" fmla="*/ 7620 w 2453640"/>
              <a:gd name="csY4" fmla="*/ 83820 h 1028700"/>
              <a:gd name="csX5" fmla="*/ 0 w 2453640"/>
              <a:gd name="csY5" fmla="*/ 662940 h 1028700"/>
              <a:gd name="csX6" fmla="*/ 190500 w 2453640"/>
              <a:gd name="csY6" fmla="*/ 1028700 h 1028700"/>
              <a:gd name="csX7" fmla="*/ 2453640 w 2453640"/>
              <a:gd name="csY7" fmla="*/ 982980 h 1028700"/>
              <a:gd name="csX8" fmla="*/ 2385060 w 2453640"/>
              <a:gd name="csY8" fmla="*/ 114300 h 1028700"/>
              <a:gd name="csX9" fmla="*/ 1798320 w 2453640"/>
              <a:gd name="csY9" fmla="*/ 0 h 1028700"/>
              <a:gd name="csX10" fmla="*/ 160020 w 2453640"/>
              <a:gd name="csY10" fmla="*/ 0 h 1028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53640" h="1028700">
                <a:moveTo>
                  <a:pt x="160020" y="0"/>
                </a:moveTo>
                <a:lnTo>
                  <a:pt x="160020" y="0"/>
                </a:lnTo>
                <a:cubicBezTo>
                  <a:pt x="129540" y="12700"/>
                  <a:pt x="98114" y="23333"/>
                  <a:pt x="68580" y="38100"/>
                </a:cubicBezTo>
                <a:cubicBezTo>
                  <a:pt x="57221" y="43780"/>
                  <a:pt x="48260" y="53340"/>
                  <a:pt x="38100" y="60960"/>
                </a:cubicBezTo>
                <a:lnTo>
                  <a:pt x="7620" y="83820"/>
                </a:lnTo>
                <a:lnTo>
                  <a:pt x="0" y="662940"/>
                </a:lnTo>
                <a:lnTo>
                  <a:pt x="190500" y="1028700"/>
                </a:lnTo>
                <a:lnTo>
                  <a:pt x="2453640" y="982980"/>
                </a:lnTo>
                <a:lnTo>
                  <a:pt x="2385060" y="114300"/>
                </a:lnTo>
                <a:lnTo>
                  <a:pt x="1798320" y="0"/>
                </a:lnTo>
                <a:lnTo>
                  <a:pt x="160020" y="0"/>
                </a:lnTo>
                <a:close/>
              </a:path>
            </a:pathLst>
          </a:cu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6" name="对话气泡: 矩形 15">
            <a:extLst>
              <a:ext uri="{FF2B5EF4-FFF2-40B4-BE49-F238E27FC236}">
                <a16:creationId xmlns:a16="http://schemas.microsoft.com/office/drawing/2014/main" id="{C233E347-220C-101D-E95C-C9E1B644E5ED}"/>
              </a:ext>
            </a:extLst>
          </p:cNvPr>
          <p:cNvSpPr/>
          <p:nvPr/>
        </p:nvSpPr>
        <p:spPr>
          <a:xfrm>
            <a:off x="1811986" y="3626900"/>
            <a:ext cx="1908677" cy="807994"/>
          </a:xfrm>
          <a:prstGeom prst="wedgeRectCallout">
            <a:avLst>
              <a:gd name="adj1" fmla="val -78864"/>
              <a:gd name="adj2" fmla="val 9245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这是有用的信息，但是仅仅是</a:t>
            </a:r>
            <a:r>
              <a:rPr lang="en-US" altLang="zh-CN" sz="1400" dirty="0"/>
              <a:t>FYI</a:t>
            </a:r>
            <a:r>
              <a:rPr lang="zh-CN" altLang="en-US" sz="1400" dirty="0"/>
              <a:t>，没必要占据重要位置</a:t>
            </a:r>
            <a:endParaRPr lang="LID4096" sz="1400" dirty="0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6EC84FA-7022-9E0B-B484-7BDF093E2D60}"/>
              </a:ext>
            </a:extLst>
          </p:cNvPr>
          <p:cNvSpPr/>
          <p:nvPr/>
        </p:nvSpPr>
        <p:spPr>
          <a:xfrm>
            <a:off x="2895600" y="4579620"/>
            <a:ext cx="1165860" cy="1028700"/>
          </a:xfrm>
          <a:custGeom>
            <a:avLst/>
            <a:gdLst>
              <a:gd name="csX0" fmla="*/ 160020 w 2453640"/>
              <a:gd name="csY0" fmla="*/ 0 h 1028700"/>
              <a:gd name="csX1" fmla="*/ 160020 w 2453640"/>
              <a:gd name="csY1" fmla="*/ 0 h 1028700"/>
              <a:gd name="csX2" fmla="*/ 68580 w 2453640"/>
              <a:gd name="csY2" fmla="*/ 38100 h 1028700"/>
              <a:gd name="csX3" fmla="*/ 38100 w 2453640"/>
              <a:gd name="csY3" fmla="*/ 60960 h 1028700"/>
              <a:gd name="csX4" fmla="*/ 7620 w 2453640"/>
              <a:gd name="csY4" fmla="*/ 83820 h 1028700"/>
              <a:gd name="csX5" fmla="*/ 0 w 2453640"/>
              <a:gd name="csY5" fmla="*/ 662940 h 1028700"/>
              <a:gd name="csX6" fmla="*/ 190500 w 2453640"/>
              <a:gd name="csY6" fmla="*/ 1028700 h 1028700"/>
              <a:gd name="csX7" fmla="*/ 2453640 w 2453640"/>
              <a:gd name="csY7" fmla="*/ 982980 h 1028700"/>
              <a:gd name="csX8" fmla="*/ 2385060 w 2453640"/>
              <a:gd name="csY8" fmla="*/ 114300 h 1028700"/>
              <a:gd name="csX9" fmla="*/ 1798320 w 2453640"/>
              <a:gd name="csY9" fmla="*/ 0 h 1028700"/>
              <a:gd name="csX10" fmla="*/ 160020 w 2453640"/>
              <a:gd name="csY10" fmla="*/ 0 h 1028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53640" h="1028700">
                <a:moveTo>
                  <a:pt x="160020" y="0"/>
                </a:moveTo>
                <a:lnTo>
                  <a:pt x="160020" y="0"/>
                </a:lnTo>
                <a:cubicBezTo>
                  <a:pt x="129540" y="12700"/>
                  <a:pt x="98114" y="23333"/>
                  <a:pt x="68580" y="38100"/>
                </a:cubicBezTo>
                <a:cubicBezTo>
                  <a:pt x="57221" y="43780"/>
                  <a:pt x="48260" y="53340"/>
                  <a:pt x="38100" y="60960"/>
                </a:cubicBezTo>
                <a:lnTo>
                  <a:pt x="7620" y="83820"/>
                </a:lnTo>
                <a:lnTo>
                  <a:pt x="0" y="662940"/>
                </a:lnTo>
                <a:lnTo>
                  <a:pt x="190500" y="1028700"/>
                </a:lnTo>
                <a:lnTo>
                  <a:pt x="2453640" y="982980"/>
                </a:lnTo>
                <a:lnTo>
                  <a:pt x="2385060" y="114300"/>
                </a:lnTo>
                <a:lnTo>
                  <a:pt x="1798320" y="0"/>
                </a:lnTo>
                <a:lnTo>
                  <a:pt x="160020" y="0"/>
                </a:lnTo>
                <a:close/>
              </a:path>
            </a:pathLst>
          </a:cu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0" name="对话气泡: 矩形 19">
            <a:extLst>
              <a:ext uri="{FF2B5EF4-FFF2-40B4-BE49-F238E27FC236}">
                <a16:creationId xmlns:a16="http://schemas.microsoft.com/office/drawing/2014/main" id="{D963BE6D-7BEF-8C98-2CB7-0B5BD2A0D6D1}"/>
              </a:ext>
            </a:extLst>
          </p:cNvPr>
          <p:cNvSpPr/>
          <p:nvPr/>
        </p:nvSpPr>
        <p:spPr>
          <a:xfrm>
            <a:off x="4027565" y="3932286"/>
            <a:ext cx="1908677" cy="807994"/>
          </a:xfrm>
          <a:prstGeom prst="wedgeRectCallout">
            <a:avLst>
              <a:gd name="adj1" fmla="val -78864"/>
              <a:gd name="adj2" fmla="val 9245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“</a:t>
            </a:r>
            <a:r>
              <a:rPr lang="en-US" altLang="zh-CN" sz="1400" dirty="0"/>
              <a:t>A</a:t>
            </a:r>
            <a:r>
              <a:rPr lang="zh-CN" altLang="en-US" sz="1400" dirty="0"/>
              <a:t>”：这些信息起什么作用？或者是否和“</a:t>
            </a:r>
            <a:r>
              <a:rPr lang="en-US" altLang="zh-CN" sz="1400" dirty="0"/>
              <a:t>B</a:t>
            </a:r>
            <a:r>
              <a:rPr lang="zh-CN" altLang="en-US" sz="1400" dirty="0"/>
              <a:t>”重复？</a:t>
            </a:r>
            <a:endParaRPr lang="LID4096" sz="1400" dirty="0"/>
          </a:p>
        </p:txBody>
      </p:sp>
    </p:spTree>
    <p:extLst>
      <p:ext uri="{BB962C8B-B14F-4D97-AF65-F5344CB8AC3E}">
        <p14:creationId xmlns:p14="http://schemas.microsoft.com/office/powerpoint/2010/main" val="375399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E4ECDD1-FBAA-CFDF-D6F3-46CC35D5D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348" y="333375"/>
            <a:ext cx="5588652" cy="2554014"/>
          </a:xfrm>
          <a:prstGeom prst="rect">
            <a:avLst/>
          </a:prstGeom>
        </p:spPr>
      </p:pic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6665AB2A-FD42-C636-7317-07A4DC7CB677}"/>
              </a:ext>
            </a:extLst>
          </p:cNvPr>
          <p:cNvSpPr/>
          <p:nvPr/>
        </p:nvSpPr>
        <p:spPr>
          <a:xfrm>
            <a:off x="4269263" y="1858689"/>
            <a:ext cx="1165860" cy="1028700"/>
          </a:xfrm>
          <a:custGeom>
            <a:avLst/>
            <a:gdLst>
              <a:gd name="csX0" fmla="*/ 160020 w 2453640"/>
              <a:gd name="csY0" fmla="*/ 0 h 1028700"/>
              <a:gd name="csX1" fmla="*/ 160020 w 2453640"/>
              <a:gd name="csY1" fmla="*/ 0 h 1028700"/>
              <a:gd name="csX2" fmla="*/ 68580 w 2453640"/>
              <a:gd name="csY2" fmla="*/ 38100 h 1028700"/>
              <a:gd name="csX3" fmla="*/ 38100 w 2453640"/>
              <a:gd name="csY3" fmla="*/ 60960 h 1028700"/>
              <a:gd name="csX4" fmla="*/ 7620 w 2453640"/>
              <a:gd name="csY4" fmla="*/ 83820 h 1028700"/>
              <a:gd name="csX5" fmla="*/ 0 w 2453640"/>
              <a:gd name="csY5" fmla="*/ 662940 h 1028700"/>
              <a:gd name="csX6" fmla="*/ 190500 w 2453640"/>
              <a:gd name="csY6" fmla="*/ 1028700 h 1028700"/>
              <a:gd name="csX7" fmla="*/ 2453640 w 2453640"/>
              <a:gd name="csY7" fmla="*/ 982980 h 1028700"/>
              <a:gd name="csX8" fmla="*/ 2385060 w 2453640"/>
              <a:gd name="csY8" fmla="*/ 114300 h 1028700"/>
              <a:gd name="csX9" fmla="*/ 1798320 w 2453640"/>
              <a:gd name="csY9" fmla="*/ 0 h 1028700"/>
              <a:gd name="csX10" fmla="*/ 160020 w 2453640"/>
              <a:gd name="csY10" fmla="*/ 0 h 1028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53640" h="1028700">
                <a:moveTo>
                  <a:pt x="160020" y="0"/>
                </a:moveTo>
                <a:lnTo>
                  <a:pt x="160020" y="0"/>
                </a:lnTo>
                <a:cubicBezTo>
                  <a:pt x="129540" y="12700"/>
                  <a:pt x="98114" y="23333"/>
                  <a:pt x="68580" y="38100"/>
                </a:cubicBezTo>
                <a:cubicBezTo>
                  <a:pt x="57221" y="43780"/>
                  <a:pt x="48260" y="53340"/>
                  <a:pt x="38100" y="60960"/>
                </a:cubicBezTo>
                <a:lnTo>
                  <a:pt x="7620" y="83820"/>
                </a:lnTo>
                <a:lnTo>
                  <a:pt x="0" y="662940"/>
                </a:lnTo>
                <a:lnTo>
                  <a:pt x="190500" y="1028700"/>
                </a:lnTo>
                <a:lnTo>
                  <a:pt x="2453640" y="982980"/>
                </a:lnTo>
                <a:lnTo>
                  <a:pt x="2385060" y="114300"/>
                </a:lnTo>
                <a:lnTo>
                  <a:pt x="1798320" y="0"/>
                </a:lnTo>
                <a:lnTo>
                  <a:pt x="160020" y="0"/>
                </a:lnTo>
                <a:close/>
              </a:path>
            </a:pathLst>
          </a:cu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对话气泡: 矩形 6">
            <a:extLst>
              <a:ext uri="{FF2B5EF4-FFF2-40B4-BE49-F238E27FC236}">
                <a16:creationId xmlns:a16="http://schemas.microsoft.com/office/drawing/2014/main" id="{177A3897-6707-6DBF-4066-EB31B1885891}"/>
              </a:ext>
            </a:extLst>
          </p:cNvPr>
          <p:cNvSpPr/>
          <p:nvPr/>
        </p:nvSpPr>
        <p:spPr>
          <a:xfrm>
            <a:off x="5707335" y="1768327"/>
            <a:ext cx="1438208" cy="493461"/>
          </a:xfrm>
          <a:prstGeom prst="wedgeRectCallout">
            <a:avLst>
              <a:gd name="adj1" fmla="val -86793"/>
              <a:gd name="adj2" fmla="val 1154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“</a:t>
            </a:r>
            <a:r>
              <a:rPr lang="en-US" altLang="zh-CN" sz="1400" dirty="0"/>
              <a:t>B</a:t>
            </a:r>
            <a:r>
              <a:rPr lang="zh-CN" altLang="en-US" sz="1400" dirty="0"/>
              <a:t>”：是否</a:t>
            </a:r>
            <a:r>
              <a:rPr lang="en-US" altLang="zh-CN" sz="1400" dirty="0"/>
              <a:t>A</a:t>
            </a:r>
            <a:r>
              <a:rPr lang="zh-CN" altLang="en-US" sz="1400" dirty="0"/>
              <a:t>和这里重复？</a:t>
            </a:r>
            <a:endParaRPr lang="LID4096" sz="1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A1C48DB-F262-2EFD-BB3A-C568C69BAB96}"/>
              </a:ext>
            </a:extLst>
          </p:cNvPr>
          <p:cNvSpPr txBox="1"/>
          <p:nvPr/>
        </p:nvSpPr>
        <p:spPr>
          <a:xfrm>
            <a:off x="2059463" y="511316"/>
            <a:ext cx="1943100" cy="6001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1100" dirty="0"/>
              <a:t>这个</a:t>
            </a:r>
            <a:r>
              <a:rPr lang="en-US" altLang="zh-CN" sz="1100" dirty="0"/>
              <a:t>panel</a:t>
            </a:r>
            <a:r>
              <a:rPr lang="zh-CN" altLang="en-US" sz="1100" dirty="0"/>
              <a:t>似乎是</a:t>
            </a:r>
            <a:r>
              <a:rPr lang="en-US" altLang="zh-CN" sz="1100" dirty="0"/>
              <a:t>teacher</a:t>
            </a:r>
            <a:r>
              <a:rPr lang="zh-CN" altLang="en-US" sz="1100" dirty="0"/>
              <a:t>跟踪游戏的最重要信息展板。应该放在最重要的位置</a:t>
            </a:r>
            <a:endParaRPr lang="LID4096" sz="11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4151527-C849-C767-F34B-837581482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976" y="3216298"/>
            <a:ext cx="5588652" cy="2869398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E6276F8A-860F-89B4-954A-156BD2046B6A}"/>
              </a:ext>
            </a:extLst>
          </p:cNvPr>
          <p:cNvSpPr txBox="1"/>
          <p:nvPr/>
        </p:nvSpPr>
        <p:spPr>
          <a:xfrm>
            <a:off x="7749849" y="3683958"/>
            <a:ext cx="1943100" cy="2616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1100" dirty="0"/>
              <a:t>这个</a:t>
            </a:r>
            <a:r>
              <a:rPr lang="en-US" altLang="zh-CN" sz="1100" dirty="0"/>
              <a:t>panel</a:t>
            </a:r>
            <a:r>
              <a:rPr lang="zh-CN" altLang="en-US" sz="1100" dirty="0"/>
              <a:t>也很重要，</a:t>
            </a:r>
            <a:endParaRPr lang="LID4096" sz="1100" dirty="0"/>
          </a:p>
        </p:txBody>
      </p:sp>
      <p:sp>
        <p:nvSpPr>
          <p:cNvPr id="15" name="对话气泡: 矩形 14">
            <a:extLst>
              <a:ext uri="{FF2B5EF4-FFF2-40B4-BE49-F238E27FC236}">
                <a16:creationId xmlns:a16="http://schemas.microsoft.com/office/drawing/2014/main" id="{F3A095DE-0C0C-133F-E0F1-7C1A267663BE}"/>
              </a:ext>
            </a:extLst>
          </p:cNvPr>
          <p:cNvSpPr/>
          <p:nvPr/>
        </p:nvSpPr>
        <p:spPr>
          <a:xfrm>
            <a:off x="9038464" y="4684969"/>
            <a:ext cx="2180172" cy="772856"/>
          </a:xfrm>
          <a:prstGeom prst="wedgeRectCallout">
            <a:avLst>
              <a:gd name="adj1" fmla="val -146532"/>
              <a:gd name="adj2" fmla="val 1091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点击此处信息闪现后消失。改为点击一次展开，再点击一次消失</a:t>
            </a:r>
            <a:endParaRPr lang="LID4096" sz="1400" dirty="0"/>
          </a:p>
        </p:txBody>
      </p:sp>
      <p:sp>
        <p:nvSpPr>
          <p:cNvPr id="17" name="对话气泡: 矩形 16">
            <a:extLst>
              <a:ext uri="{FF2B5EF4-FFF2-40B4-BE49-F238E27FC236}">
                <a16:creationId xmlns:a16="http://schemas.microsoft.com/office/drawing/2014/main" id="{C1AB9059-0F93-301E-8CE3-3E780DFE058A}"/>
              </a:ext>
            </a:extLst>
          </p:cNvPr>
          <p:cNvSpPr/>
          <p:nvPr/>
        </p:nvSpPr>
        <p:spPr>
          <a:xfrm>
            <a:off x="4330176" y="511317"/>
            <a:ext cx="1689623" cy="846894"/>
          </a:xfrm>
          <a:prstGeom prst="wedgeRectCallout">
            <a:avLst>
              <a:gd name="adj1" fmla="val -164658"/>
              <a:gd name="adj2" fmla="val 8375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这些信息展示游戏的目前状态，字体应该放大，和</a:t>
            </a:r>
            <a:r>
              <a:rPr lang="en-US" altLang="zh-CN" sz="1400" dirty="0"/>
              <a:t>Live Operations</a:t>
            </a:r>
            <a:r>
              <a:rPr lang="zh-CN" altLang="en-US" sz="1400" dirty="0"/>
              <a:t>并排。</a:t>
            </a:r>
            <a:endParaRPr lang="LID4096" sz="1400" dirty="0"/>
          </a:p>
        </p:txBody>
      </p:sp>
    </p:spTree>
    <p:extLst>
      <p:ext uri="{BB962C8B-B14F-4D97-AF65-F5344CB8AC3E}">
        <p14:creationId xmlns:p14="http://schemas.microsoft.com/office/powerpoint/2010/main" val="3390056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ABDC01B-6186-A378-AE0A-AC7118515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8" y="90487"/>
            <a:ext cx="6733138" cy="126206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20E1831-9714-0DC9-99BE-36A2BE4E8035}"/>
              </a:ext>
            </a:extLst>
          </p:cNvPr>
          <p:cNvSpPr txBox="1"/>
          <p:nvPr/>
        </p:nvSpPr>
        <p:spPr>
          <a:xfrm>
            <a:off x="3829050" y="266700"/>
            <a:ext cx="3152775" cy="3077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</a:rPr>
              <a:t>标题改为“</a:t>
            </a:r>
            <a:r>
              <a:rPr lang="en-US" altLang="zh-CN" sz="1400" dirty="0">
                <a:solidFill>
                  <a:schemeClr val="bg1"/>
                </a:solidFill>
              </a:rPr>
              <a:t>admin panel”,</a:t>
            </a:r>
            <a:r>
              <a:rPr lang="zh-CN" altLang="en-US" sz="1400" dirty="0">
                <a:solidFill>
                  <a:schemeClr val="bg1"/>
                </a:solidFill>
              </a:rPr>
              <a:t>用于应急处理</a:t>
            </a:r>
            <a:endParaRPr lang="LID4096" sz="1400" dirty="0">
              <a:solidFill>
                <a:schemeClr val="bg1"/>
              </a:solidFill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F171B2A-54B0-4528-FA78-3680CD4452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8" y="1460598"/>
            <a:ext cx="6234112" cy="2896115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C1DD6E23-34BA-4BD7-7A46-A5F252F84B4A}"/>
              </a:ext>
            </a:extLst>
          </p:cNvPr>
          <p:cNvSpPr txBox="1"/>
          <p:nvPr/>
        </p:nvSpPr>
        <p:spPr>
          <a:xfrm>
            <a:off x="2790824" y="1616273"/>
            <a:ext cx="2886075" cy="3077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</a:rPr>
              <a:t>标题改为“</a:t>
            </a:r>
            <a:r>
              <a:rPr lang="en-US" altLang="zh-CN" sz="1400" dirty="0" err="1">
                <a:solidFill>
                  <a:schemeClr val="bg1"/>
                </a:solidFill>
              </a:rPr>
              <a:t>DiscussionRoom</a:t>
            </a:r>
            <a:r>
              <a:rPr lang="en-US" altLang="zh-CN" sz="1400" dirty="0">
                <a:solidFill>
                  <a:schemeClr val="bg1"/>
                </a:solidFill>
              </a:rPr>
              <a:t> Control” </a:t>
            </a:r>
            <a:endParaRPr lang="LID4096" sz="1400" dirty="0">
              <a:solidFill>
                <a:schemeClr val="bg1"/>
              </a:solidFill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54A2DFE1-6308-8AC8-53E6-BC50FC6CD8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9799" y="3767137"/>
            <a:ext cx="5972175" cy="282683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4C25EC72-DB9C-585E-F9DE-4ADE4CE4959E}"/>
              </a:ext>
            </a:extLst>
          </p:cNvPr>
          <p:cNvSpPr txBox="1"/>
          <p:nvPr/>
        </p:nvSpPr>
        <p:spPr>
          <a:xfrm>
            <a:off x="8858249" y="3911798"/>
            <a:ext cx="2886075" cy="5232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</a:rPr>
              <a:t>似乎和“</a:t>
            </a:r>
            <a:r>
              <a:rPr lang="en-US" altLang="zh-CN" sz="1400" dirty="0">
                <a:solidFill>
                  <a:schemeClr val="bg1"/>
                </a:solidFill>
              </a:rPr>
              <a:t>Reusable </a:t>
            </a:r>
            <a:r>
              <a:rPr lang="en-US" altLang="zh-CN" sz="1400" dirty="0" err="1">
                <a:solidFill>
                  <a:schemeClr val="bg1"/>
                </a:solidFill>
              </a:rPr>
              <a:t>DiscussionRoom</a:t>
            </a:r>
            <a:r>
              <a:rPr lang="en-US" altLang="zh-CN" sz="1400" dirty="0">
                <a:solidFill>
                  <a:schemeClr val="bg1"/>
                </a:solidFill>
              </a:rPr>
              <a:t>”</a:t>
            </a:r>
            <a:r>
              <a:rPr lang="zh-CN" altLang="en-US" sz="1400" dirty="0">
                <a:solidFill>
                  <a:schemeClr val="bg1"/>
                </a:solidFill>
              </a:rPr>
              <a:t>重复？</a:t>
            </a:r>
            <a:endParaRPr lang="LID4096" sz="1400" dirty="0">
              <a:solidFill>
                <a:schemeClr val="bg1"/>
              </a:solidFill>
            </a:endParaRPr>
          </a:p>
        </p:txBody>
      </p:sp>
      <p:sp>
        <p:nvSpPr>
          <p:cNvPr id="16" name="对话气泡: 矩形 15">
            <a:extLst>
              <a:ext uri="{FF2B5EF4-FFF2-40B4-BE49-F238E27FC236}">
                <a16:creationId xmlns:a16="http://schemas.microsoft.com/office/drawing/2014/main" id="{1E884610-2F60-6B5B-41C7-4F7FF1EDC24B}"/>
              </a:ext>
            </a:extLst>
          </p:cNvPr>
          <p:cNvSpPr/>
          <p:nvPr/>
        </p:nvSpPr>
        <p:spPr>
          <a:xfrm>
            <a:off x="2037899" y="2549215"/>
            <a:ext cx="1438208" cy="493461"/>
          </a:xfrm>
          <a:prstGeom prst="wedgeRectCallout">
            <a:avLst>
              <a:gd name="adj1" fmla="val -132491"/>
              <a:gd name="adj2" fmla="val -22625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Sprint 2 </a:t>
            </a:r>
            <a:r>
              <a:rPr lang="zh-CN" altLang="en-US" sz="1400" dirty="0"/>
              <a:t>有用吗？</a:t>
            </a:r>
            <a:endParaRPr lang="LID4096" sz="1400" dirty="0"/>
          </a:p>
        </p:txBody>
      </p:sp>
      <p:sp>
        <p:nvSpPr>
          <p:cNvPr id="18" name="对话气泡: 矩形 17">
            <a:extLst>
              <a:ext uri="{FF2B5EF4-FFF2-40B4-BE49-F238E27FC236}">
                <a16:creationId xmlns:a16="http://schemas.microsoft.com/office/drawing/2014/main" id="{0A43CDE8-3156-B8D0-B435-6D6CC8C3B18A}"/>
              </a:ext>
            </a:extLst>
          </p:cNvPr>
          <p:cNvSpPr/>
          <p:nvPr/>
        </p:nvSpPr>
        <p:spPr>
          <a:xfrm>
            <a:off x="1866448" y="3665067"/>
            <a:ext cx="1962601" cy="493461"/>
          </a:xfrm>
          <a:prstGeom prst="wedgeRectCallout">
            <a:avLst>
              <a:gd name="adj1" fmla="val -104685"/>
              <a:gd name="adj2" fmla="val -24748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Start  formal run</a:t>
            </a:r>
            <a:r>
              <a:rPr lang="zh-CN" altLang="en-US" sz="1400" dirty="0"/>
              <a:t>移动到</a:t>
            </a:r>
            <a:r>
              <a:rPr lang="en-US" altLang="zh-CN" sz="1400" dirty="0"/>
              <a:t>Live Operation</a:t>
            </a:r>
            <a:endParaRPr lang="LID4096" sz="1400" dirty="0"/>
          </a:p>
        </p:txBody>
      </p:sp>
    </p:spTree>
    <p:extLst>
      <p:ext uri="{BB962C8B-B14F-4D97-AF65-F5344CB8AC3E}">
        <p14:creationId xmlns:p14="http://schemas.microsoft.com/office/powerpoint/2010/main" val="12790845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6EB3A30-A3D9-0E8B-090E-6D517A74E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300" y="587216"/>
            <a:ext cx="9836523" cy="627078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BEC0B82-129D-A39E-CC2A-79AF2604EC31}"/>
              </a:ext>
            </a:extLst>
          </p:cNvPr>
          <p:cNvSpPr txBox="1"/>
          <p:nvPr/>
        </p:nvSpPr>
        <p:spPr>
          <a:xfrm>
            <a:off x="395287" y="125551"/>
            <a:ext cx="11587163" cy="46166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</a:rPr>
              <a:t>Proposal of Layout-Teacher Console </a:t>
            </a:r>
            <a:r>
              <a:rPr lang="en-US" sz="1600" dirty="0">
                <a:solidFill>
                  <a:schemeClr val="tx1"/>
                </a:solidFill>
              </a:rPr>
              <a:t>– please critically feedback for minimizing the change of program architecture</a:t>
            </a:r>
            <a:endParaRPr lang="LID4096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18826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3">
            <a:extLst>
              <a:ext uri="{FF2B5EF4-FFF2-40B4-BE49-F238E27FC236}">
                <a16:creationId xmlns:a16="http://schemas.microsoft.com/office/drawing/2014/main" id="{EE322F65-2DFE-F057-3769-CBF86A4878CA}"/>
              </a:ext>
            </a:extLst>
          </p:cNvPr>
          <p:cNvSpPr txBox="1">
            <a:spLocks/>
          </p:cNvSpPr>
          <p:nvPr/>
        </p:nvSpPr>
        <p:spPr>
          <a:xfrm>
            <a:off x="1133475" y="2470150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/>
              <a:t>Part IV malfunctioning/issues identified </a:t>
            </a:r>
            <a:endParaRPr lang="LID4096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DF9C28D-8CC4-2AB7-359F-308339DD4810}"/>
              </a:ext>
            </a:extLst>
          </p:cNvPr>
          <p:cNvSpPr txBox="1"/>
          <p:nvPr/>
        </p:nvSpPr>
        <p:spPr>
          <a:xfrm>
            <a:off x="1857375" y="3543300"/>
            <a:ext cx="8991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</a:t>
            </a:r>
            <a:r>
              <a:rPr lang="zh-CN" altLang="en-US" dirty="0"/>
              <a:t>：</a:t>
            </a:r>
            <a:r>
              <a:rPr lang="en-US" altLang="zh-CN" dirty="0"/>
              <a:t>Some snapshots here-after presented might not really mean “malfunctioning” but due to my then misunderstanding/unskillfulness to the teacher’s console. Please be critical when you’re analyzing  and trouble-shooting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9278542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060AB57-6C77-E514-562A-A514887DF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546" y="311532"/>
            <a:ext cx="10086975" cy="322897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F86228B-DF21-0C42-E155-4424E89B07F1}"/>
              </a:ext>
            </a:extLst>
          </p:cNvPr>
          <p:cNvSpPr txBox="1"/>
          <p:nvPr/>
        </p:nvSpPr>
        <p:spPr>
          <a:xfrm>
            <a:off x="579546" y="3739589"/>
            <a:ext cx="1018370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GA feedback:</a:t>
            </a:r>
          </a:p>
          <a:p>
            <a:r>
              <a:rPr lang="zh-CN" altLang="en-US" sz="1200" dirty="0"/>
              <a:t>你现在已经到正确的 </a:t>
            </a:r>
            <a:r>
              <a:rPr lang="en-US" sz="1200" dirty="0"/>
              <a:t>pre-run </a:t>
            </a:r>
            <a:r>
              <a:rPr lang="zh-CN" altLang="en-US" sz="1200" dirty="0"/>
              <a:t>状态了：三个 </a:t>
            </a:r>
            <a:r>
              <a:rPr lang="en-US" sz="1200" dirty="0"/>
              <a:t>Players </a:t>
            </a:r>
            <a:r>
              <a:rPr lang="zh-CN" altLang="en-US" sz="1200" dirty="0"/>
              <a:t>都已经进入 </a:t>
            </a:r>
            <a:r>
              <a:rPr lang="en-US" sz="1200" dirty="0"/>
              <a:t>TEST01，</a:t>
            </a:r>
            <a:r>
              <a:rPr lang="zh-CN" altLang="en-US" sz="1200" dirty="0"/>
              <a:t>目前 </a:t>
            </a:r>
            <a:r>
              <a:rPr lang="en-US" sz="1200" dirty="0"/>
              <a:t>Private choice = waiting，</a:t>
            </a:r>
            <a:r>
              <a:rPr lang="zh-CN" altLang="en-US" sz="1200" dirty="0"/>
              <a:t>说明 </a:t>
            </a:r>
            <a:r>
              <a:rPr lang="en-US" sz="1200" dirty="0"/>
              <a:t>formal run </a:t>
            </a:r>
            <a:r>
              <a:rPr lang="zh-CN" altLang="en-US" sz="1200" dirty="0"/>
              <a:t>还没启动。</a:t>
            </a:r>
          </a:p>
          <a:p>
            <a:r>
              <a:rPr lang="zh-CN" altLang="en-US" sz="1200" dirty="0"/>
              <a:t>接下来在 </a:t>
            </a:r>
            <a:r>
              <a:rPr lang="en-US" sz="1200" dirty="0"/>
              <a:t>Teacher </a:t>
            </a:r>
            <a:r>
              <a:rPr lang="zh-CN" altLang="en-US" sz="1200" dirty="0"/>
              <a:t>页面向下滚动，找到这一块：</a:t>
            </a:r>
          </a:p>
          <a:p>
            <a:r>
              <a:rPr lang="en-US" sz="1200" dirty="0"/>
              <a:t>Reusable </a:t>
            </a:r>
            <a:r>
              <a:rPr lang="en-US" sz="1200" dirty="0" err="1"/>
              <a:t>DiscussionRoom</a:t>
            </a:r>
            <a:endParaRPr lang="en-US" sz="1200" dirty="0"/>
          </a:p>
          <a:p>
            <a:r>
              <a:rPr lang="zh-CN" altLang="en-US" sz="1200" dirty="0"/>
              <a:t>里面应该看到：</a:t>
            </a:r>
          </a:p>
          <a:p>
            <a:r>
              <a:rPr lang="en-US" sz="1200" dirty="0"/>
              <a:t>Run mode：</a:t>
            </a:r>
            <a:r>
              <a:rPr lang="zh-CN" altLang="en-US" sz="1200" dirty="0"/>
              <a:t>保持 </a:t>
            </a:r>
            <a:r>
              <a:rPr lang="en-US" sz="1200" dirty="0"/>
              <a:t>NORMAL</a:t>
            </a:r>
          </a:p>
          <a:p>
            <a:r>
              <a:rPr lang="en-US" sz="1200" dirty="0"/>
              <a:t>Discussion seconds：</a:t>
            </a:r>
            <a:r>
              <a:rPr lang="zh-CN" altLang="en-US" sz="1200" dirty="0"/>
              <a:t>先保持 </a:t>
            </a:r>
            <a:r>
              <a:rPr lang="en-US" altLang="zh-CN" sz="1200" dirty="0"/>
              <a:t>90</a:t>
            </a:r>
          </a:p>
          <a:p>
            <a:r>
              <a:rPr lang="en-US" sz="1200" dirty="0"/>
              <a:t>Vote seconds：</a:t>
            </a:r>
            <a:r>
              <a:rPr lang="zh-CN" altLang="en-US" sz="1200" dirty="0"/>
              <a:t>保持 </a:t>
            </a:r>
            <a:r>
              <a:rPr lang="en-US" altLang="zh-CN" sz="1200" dirty="0"/>
              <a:t>60</a:t>
            </a:r>
          </a:p>
          <a:p>
            <a:r>
              <a:rPr lang="zh-CN" altLang="en-US" sz="1200" dirty="0"/>
              <a:t>按钮：</a:t>
            </a:r>
            <a:r>
              <a:rPr lang="en-US" sz="1200" dirty="0"/>
              <a:t>Start formal run</a:t>
            </a:r>
          </a:p>
          <a:p>
            <a:r>
              <a:rPr lang="zh-CN" altLang="en-US" sz="1200" dirty="0"/>
              <a:t>然后点击：</a:t>
            </a:r>
          </a:p>
          <a:p>
            <a:r>
              <a:rPr lang="en-US" sz="1200" dirty="0"/>
              <a:t>Start formal run</a:t>
            </a:r>
          </a:p>
          <a:p>
            <a:r>
              <a:rPr lang="zh-CN" altLang="en-US" sz="1200" dirty="0"/>
              <a:t>这才是真正启动 </a:t>
            </a:r>
            <a:r>
              <a:rPr lang="en-US" sz="1200" dirty="0"/>
              <a:t>ACT1–14 formal run </a:t>
            </a:r>
            <a:r>
              <a:rPr lang="zh-CN" altLang="en-US" sz="1200" dirty="0"/>
              <a:t>的按钮。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0D6E47D-DE07-8120-19C4-B91D4BCC130B}"/>
              </a:ext>
            </a:extLst>
          </p:cNvPr>
          <p:cNvSpPr txBox="1"/>
          <p:nvPr/>
        </p:nvSpPr>
        <p:spPr>
          <a:xfrm>
            <a:off x="6653048" y="4656083"/>
            <a:ext cx="3594538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dirty="0"/>
              <a:t>不合理，应该把：</a:t>
            </a:r>
            <a:r>
              <a:rPr lang="en-US" altLang="zh-CN" dirty="0"/>
              <a:t>start formal run </a:t>
            </a:r>
            <a:r>
              <a:rPr lang="zh-CN" altLang="en-US" dirty="0"/>
              <a:t>按钮放在</a:t>
            </a:r>
            <a:r>
              <a:rPr lang="en-US" altLang="zh-CN" dirty="0"/>
              <a:t>Room state</a:t>
            </a:r>
            <a:endParaRPr lang="LID4096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300DAD8-923C-BEB3-31DF-BE5A8A01A382}"/>
              </a:ext>
            </a:extLst>
          </p:cNvPr>
          <p:cNvSpPr txBox="1"/>
          <p:nvPr/>
        </p:nvSpPr>
        <p:spPr>
          <a:xfrm>
            <a:off x="7872248" y="914400"/>
            <a:ext cx="191288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Start formal run</a:t>
            </a:r>
            <a:endParaRPr lang="LID4096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69873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49A8379-12E0-EFB8-1A67-BC0498DAA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389" y="201369"/>
            <a:ext cx="5374728" cy="449072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8E7717B-CDD6-5CC5-41D6-EEAB1DD2402A}"/>
              </a:ext>
            </a:extLst>
          </p:cNvPr>
          <p:cNvSpPr txBox="1"/>
          <p:nvPr/>
        </p:nvSpPr>
        <p:spPr>
          <a:xfrm>
            <a:off x="683174" y="4979726"/>
            <a:ext cx="11130454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CN" dirty="0"/>
              <a:t>Gitte</a:t>
            </a:r>
            <a:r>
              <a:rPr lang="zh-CN" altLang="en-US" dirty="0"/>
              <a:t>的界面和</a:t>
            </a:r>
            <a:r>
              <a:rPr lang="en-US" altLang="zh-CN" dirty="0"/>
              <a:t>Anna/Linda</a:t>
            </a:r>
            <a:r>
              <a:rPr lang="zh-CN" altLang="en-US" dirty="0"/>
              <a:t>不一样，应该统一改为：见下一页</a:t>
            </a:r>
            <a:endParaRPr lang="en-US" altLang="zh-CN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8D15307-9355-C90F-D889-3442793F08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2451" y="293480"/>
            <a:ext cx="5829140" cy="4236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0415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97D1A93E-BDC2-DD8C-E80B-5400C5D04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870" y="73573"/>
            <a:ext cx="7142329" cy="68580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0C42F75A-4664-EBE7-7837-E4A93A4D39BC}"/>
              </a:ext>
            </a:extLst>
          </p:cNvPr>
          <p:cNvSpPr txBox="1"/>
          <p:nvPr/>
        </p:nvSpPr>
        <p:spPr>
          <a:xfrm>
            <a:off x="7953978" y="1553354"/>
            <a:ext cx="3710152" cy="12003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dirty="0"/>
              <a:t>接上一页 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Gitte</a:t>
            </a:r>
            <a:r>
              <a:rPr lang="zh-CN" altLang="en-US" dirty="0"/>
              <a:t>的界面和</a:t>
            </a:r>
            <a:r>
              <a:rPr lang="en-US" altLang="zh-CN" dirty="0"/>
              <a:t>Anna/Linda</a:t>
            </a:r>
            <a:r>
              <a:rPr lang="zh-CN" altLang="en-US" dirty="0"/>
              <a:t>不一样，应该统一改为这样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15809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A36F952-FF53-AA74-65E0-80903B593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858" y="180975"/>
            <a:ext cx="6477000" cy="6496050"/>
          </a:xfrm>
          <a:prstGeom prst="rect">
            <a:avLst/>
          </a:prstGeom>
        </p:spPr>
      </p:pic>
      <p:sp>
        <p:nvSpPr>
          <p:cNvPr id="4" name="对话气泡: 矩形 3">
            <a:extLst>
              <a:ext uri="{FF2B5EF4-FFF2-40B4-BE49-F238E27FC236}">
                <a16:creationId xmlns:a16="http://schemas.microsoft.com/office/drawing/2014/main" id="{03FB6827-04C3-9857-74BB-CEDD32DE5E2F}"/>
              </a:ext>
            </a:extLst>
          </p:cNvPr>
          <p:cNvSpPr/>
          <p:nvPr/>
        </p:nvSpPr>
        <p:spPr>
          <a:xfrm>
            <a:off x="7062951" y="3429000"/>
            <a:ext cx="3921673" cy="1040524"/>
          </a:xfrm>
          <a:prstGeom prst="wedgeRectCallout">
            <a:avLst>
              <a:gd name="adj1" fmla="val -110883"/>
              <a:gd name="adj2" fmla="val 7114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For all players: </a:t>
            </a:r>
            <a:r>
              <a:rPr lang="zh-CN" altLang="en-US" dirty="0"/>
              <a:t>这里应该是图吧？不应该是文字</a:t>
            </a:r>
            <a:endParaRPr lang="LID4096" dirty="0"/>
          </a:p>
        </p:txBody>
      </p:sp>
      <p:sp>
        <p:nvSpPr>
          <p:cNvPr id="6" name="对话气泡: 矩形 5">
            <a:extLst>
              <a:ext uri="{FF2B5EF4-FFF2-40B4-BE49-F238E27FC236}">
                <a16:creationId xmlns:a16="http://schemas.microsoft.com/office/drawing/2014/main" id="{C6A3B517-FA65-A28B-67A2-96FFAD4269B1}"/>
              </a:ext>
            </a:extLst>
          </p:cNvPr>
          <p:cNvSpPr/>
          <p:nvPr/>
        </p:nvSpPr>
        <p:spPr>
          <a:xfrm>
            <a:off x="8045669" y="5053012"/>
            <a:ext cx="3921673" cy="1526464"/>
          </a:xfrm>
          <a:prstGeom prst="wedgeRectCallout">
            <a:avLst>
              <a:gd name="adj1" fmla="val -94803"/>
              <a:gd name="adj2" fmla="val 3056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For all players: </a:t>
            </a:r>
            <a:r>
              <a:rPr lang="en-US" altLang="zh-CN" dirty="0"/>
              <a:t>player</a:t>
            </a:r>
            <a:r>
              <a:rPr lang="zh-CN" altLang="en-US" dirty="0"/>
              <a:t>：这段文字只是说明动作，</a:t>
            </a:r>
            <a:r>
              <a:rPr lang="en-US" altLang="zh-CN" dirty="0"/>
              <a:t>player</a:t>
            </a:r>
            <a:r>
              <a:rPr lang="zh-CN" altLang="en-US" dirty="0"/>
              <a:t>不会想到点击这里进入下一步。不应该是下一步动作的按钮。应该在边上（或下面）加一个按钮：“下一步</a:t>
            </a:r>
            <a:r>
              <a:rPr lang="en-US" dirty="0"/>
              <a:t> </a:t>
            </a:r>
            <a:r>
              <a:rPr lang="zh-CN" altLang="en-US" dirty="0"/>
              <a:t>”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6191461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9AEF19E-6F3A-43A3-4F2F-A2F71D451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890" y="0"/>
            <a:ext cx="6189144" cy="68580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D1FFB073-7ED2-8592-9B99-A29DFF192D2F}"/>
              </a:ext>
            </a:extLst>
          </p:cNvPr>
          <p:cNvSpPr txBox="1"/>
          <p:nvPr/>
        </p:nvSpPr>
        <p:spPr>
          <a:xfrm>
            <a:off x="7451834" y="1261241"/>
            <a:ext cx="41831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这是</a:t>
            </a:r>
            <a:r>
              <a:rPr lang="en-US" altLang="zh-CN" dirty="0"/>
              <a:t>Gitte</a:t>
            </a:r>
            <a:r>
              <a:rPr lang="zh-CN" altLang="en-US" dirty="0"/>
              <a:t>的页面，她还没有投票，但是已经“锁”住了，她无法投票。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41315122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6BE113F-C4D0-31BE-C6B5-898BE9A34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174" y="0"/>
            <a:ext cx="8148715" cy="6858000"/>
          </a:xfrm>
          <a:prstGeom prst="rect">
            <a:avLst/>
          </a:prstGeom>
        </p:spPr>
      </p:pic>
      <p:sp>
        <p:nvSpPr>
          <p:cNvPr id="4" name="椭圆 3">
            <a:extLst>
              <a:ext uri="{FF2B5EF4-FFF2-40B4-BE49-F238E27FC236}">
                <a16:creationId xmlns:a16="http://schemas.microsoft.com/office/drawing/2014/main" id="{CC2E5B95-297A-84F0-C555-E77DCE9E683A}"/>
              </a:ext>
            </a:extLst>
          </p:cNvPr>
          <p:cNvSpPr/>
          <p:nvPr/>
        </p:nvSpPr>
        <p:spPr>
          <a:xfrm>
            <a:off x="546538" y="599090"/>
            <a:ext cx="1040524" cy="903889"/>
          </a:xfrm>
          <a:prstGeom prst="ellipse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54F9D85-4099-283D-A8FE-EE6A36C63217}"/>
              </a:ext>
            </a:extLst>
          </p:cNvPr>
          <p:cNvSpPr txBox="1"/>
          <p:nvPr/>
        </p:nvSpPr>
        <p:spPr>
          <a:xfrm>
            <a:off x="9196552" y="2517622"/>
            <a:ext cx="284830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" sz="1800" b="0" i="0" dirty="0">
                <a:solidFill>
                  <a:schemeClr val="tx1"/>
                </a:solidFill>
                <a:effectLst/>
                <a:latin typeface="+mn-lt"/>
              </a:rPr>
              <a:t>我在这个位置，90秒过去后锁住了对话，两人投了票，Gitte还没投票，似乎被卡死了。我加了30秒，没有反应。应该怎样让游戏继续？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6110408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CA43C76-70A2-3070-B943-44ED8928B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77918" cy="685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1F93146-CE9D-5317-F668-7335CDDE1A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7918" y="0"/>
            <a:ext cx="6435247" cy="6858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4451C5-868D-36AD-1286-E6C25F67B7BB}"/>
              </a:ext>
            </a:extLst>
          </p:cNvPr>
          <p:cNvSpPr txBox="1"/>
          <p:nvPr/>
        </p:nvSpPr>
        <p:spPr>
          <a:xfrm>
            <a:off x="3720662" y="2564524"/>
            <a:ext cx="4834759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dirty="0"/>
              <a:t>界面太混乱，找不到重点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011246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71F1A99-918E-0672-30D5-F650A58E3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234" y="0"/>
            <a:ext cx="7641531" cy="6858000"/>
          </a:xfrm>
          <a:prstGeom prst="rect">
            <a:avLst/>
          </a:prstGeom>
        </p:spPr>
      </p:pic>
      <p:sp>
        <p:nvSpPr>
          <p:cNvPr id="4" name="椭圆 3">
            <a:extLst>
              <a:ext uri="{FF2B5EF4-FFF2-40B4-BE49-F238E27FC236}">
                <a16:creationId xmlns:a16="http://schemas.microsoft.com/office/drawing/2014/main" id="{0C5A47A0-91B8-7D53-7ECD-EF264EFB532D}"/>
              </a:ext>
            </a:extLst>
          </p:cNvPr>
          <p:cNvSpPr/>
          <p:nvPr/>
        </p:nvSpPr>
        <p:spPr>
          <a:xfrm>
            <a:off x="1989210" y="0"/>
            <a:ext cx="8510624" cy="304800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" name="对话气泡: 矩形 4">
            <a:extLst>
              <a:ext uri="{FF2B5EF4-FFF2-40B4-BE49-F238E27FC236}">
                <a16:creationId xmlns:a16="http://schemas.microsoft.com/office/drawing/2014/main" id="{0B9BB021-0393-E232-146A-719D122AC13E}"/>
              </a:ext>
            </a:extLst>
          </p:cNvPr>
          <p:cNvSpPr/>
          <p:nvPr/>
        </p:nvSpPr>
        <p:spPr>
          <a:xfrm>
            <a:off x="10300138" y="283779"/>
            <a:ext cx="1797269" cy="956441"/>
          </a:xfrm>
          <a:prstGeom prst="wedgeRectCallout">
            <a:avLst>
              <a:gd name="adj1" fmla="val -100365"/>
              <a:gd name="adj2" fmla="val 4491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游戏说明信息没必要放在这么重要的位置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5426815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55CDAFA-446C-F08F-4564-EDAC4BF04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02" y="595312"/>
            <a:ext cx="7957645" cy="621398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961C3B2-9524-7FB4-B3F9-149C77FFFB33}"/>
              </a:ext>
            </a:extLst>
          </p:cNvPr>
          <p:cNvSpPr txBox="1"/>
          <p:nvPr/>
        </p:nvSpPr>
        <p:spPr>
          <a:xfrm>
            <a:off x="8681545" y="2690648"/>
            <a:ext cx="24278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不知道如何填入数字</a:t>
            </a:r>
            <a:endParaRPr lang="en-US" altLang="zh-CN" dirty="0"/>
          </a:p>
          <a:p>
            <a:endParaRPr lang="en-US" dirty="0"/>
          </a:p>
          <a:p>
            <a:r>
              <a:rPr lang="zh-CN" altLang="en-US" dirty="0"/>
              <a:t>数字重复了两次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4929646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D9AF71F-6B16-07E7-D4B1-FA32BCF8D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852" y="0"/>
            <a:ext cx="5933427" cy="68580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8667633-0A0F-E834-3968-00C15B1395BC}"/>
              </a:ext>
            </a:extLst>
          </p:cNvPr>
          <p:cNvSpPr txBox="1"/>
          <p:nvPr/>
        </p:nvSpPr>
        <p:spPr>
          <a:xfrm>
            <a:off x="7399283" y="1156138"/>
            <a:ext cx="2963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没有图片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7566893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82257B0-3461-3714-C37C-925FEFA74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290" y="300037"/>
            <a:ext cx="8143875" cy="625792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CEE3275-0197-18EB-F8A2-C477DCC8BF0E}"/>
              </a:ext>
            </a:extLst>
          </p:cNvPr>
          <p:cNvSpPr txBox="1"/>
          <p:nvPr/>
        </p:nvSpPr>
        <p:spPr>
          <a:xfrm>
            <a:off x="9280634" y="2427890"/>
            <a:ext cx="2060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这句话什么意思？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40890863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1BB18C0-8C26-D743-ADFA-DDD8997A2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0218"/>
            <a:ext cx="8753475" cy="439102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A61247A-5CB8-3529-A438-C237A0EFDB3C}"/>
              </a:ext>
            </a:extLst>
          </p:cNvPr>
          <p:cNvSpPr txBox="1"/>
          <p:nvPr/>
        </p:nvSpPr>
        <p:spPr>
          <a:xfrm>
            <a:off x="9406759" y="2832564"/>
            <a:ext cx="27852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在这里被卡死了。没有投票位置。</a:t>
            </a:r>
            <a:r>
              <a:rPr lang="en-US" altLang="zh-CN" dirty="0"/>
              <a:t>GA</a:t>
            </a:r>
            <a:r>
              <a:rPr lang="zh-CN" altLang="en-US" dirty="0"/>
              <a:t>指示测试结束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8765990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909</Words>
  <Application>Microsoft Office PowerPoint</Application>
  <PresentationFormat>宽屏</PresentationFormat>
  <Paragraphs>81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Office 主题​​</vt:lpstr>
      <vt:lpstr>First Round Review – Snapshot of pages with problem</vt:lpstr>
      <vt:lpstr>Part I Major problems above all the others</vt:lpstr>
      <vt:lpstr>Part II About layout-GAL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Feng Mei</dc:creator>
  <cp:lastModifiedBy>Feng Mei</cp:lastModifiedBy>
  <cp:revision>5</cp:revision>
  <dcterms:created xsi:type="dcterms:W3CDTF">2026-10-03T12:30:13Z</dcterms:created>
  <dcterms:modified xsi:type="dcterms:W3CDTF">2026-10-04T07:10:00Z</dcterms:modified>
</cp:coreProperties>
</file>